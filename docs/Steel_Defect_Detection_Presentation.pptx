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mAP@0.5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0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crazing</c:v>
                  </c:pt>
                  <c:pt idx="1">
                    <c:v>inclusion</c:v>
                  </c:pt>
                  <c:pt idx="2">
                    <c:v>patches</c:v>
                  </c:pt>
                  <c:pt idx="3">
                    <c:v>pitted</c:v>
                  </c:pt>
                  <c:pt idx="4">
                    <c:v>rolled-in</c:v>
                  </c:pt>
                  <c:pt idx="5">
                    <c:v>scratches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0.45</c:v>
                </c:pt>
                <c:pt idx="1">
                  <c:v>0.8</c:v>
                </c:pt>
                <c:pt idx="2">
                  <c:v>0.9</c:v>
                </c:pt>
                <c:pt idx="3">
                  <c:v>0.82</c:v>
                </c:pt>
                <c:pt idx="4">
                  <c:v>0.66</c:v>
                </c:pt>
                <c:pt idx="5">
                  <c:v>0.93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420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778240" y="-914400"/>
            <a:ext cx="256032" cy="9144000"/>
          </a:xfrm>
          <a:prstGeom prst="rect">
            <a:avLst/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9345168" y="-914400"/>
            <a:ext cx="256032" cy="9144000"/>
          </a:xfrm>
          <a:prstGeom prst="rect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9912096" y="-914400"/>
            <a:ext cx="256032" cy="9144000"/>
          </a:xfrm>
          <a:prstGeom prst="rect">
            <a:avLst/>
          </a:prstGeom>
          <a:solidFill>
            <a:srgbClr val="1C7293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1080000">
            <a:off x="10479024" y="-914400"/>
            <a:ext cx="256032" cy="9144000"/>
          </a:xfrm>
          <a:prstGeom prst="rect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1080000">
            <a:off x="11045952" y="-914400"/>
            <a:ext cx="256032" cy="9144000"/>
          </a:xfrm>
          <a:prstGeom prst="rect">
            <a:avLst/>
          </a:prstGeom>
          <a:solidFill>
            <a:srgbClr val="1C7293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">
            <a:off x="11612880" y="-914400"/>
            <a:ext cx="256032" cy="9144000"/>
          </a:xfrm>
          <a:prstGeom prst="rect">
            <a:avLst/>
          </a:prstGeom>
          <a:solidFill>
            <a:srgbClr val="1C7293">
              <a:alpha val="22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868680"/>
            <a:ext cx="777240" cy="777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CAPSTONE PROJECT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Steel Surface Defect Detection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777240" y="3291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FE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Visual Inspection with YOLOv8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822960" y="4114800"/>
            <a:ext cx="2926080" cy="0"/>
          </a:xfrm>
          <a:prstGeom prst="line">
            <a:avLst/>
          </a:prstGeom>
          <a:noFill/>
          <a:ln w="31750">
            <a:solidFill>
              <a:srgbClr val="13A89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3434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NEU-DET (1,800 images, 6 defect classes)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   YOLOv8n (real-time object detection)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 Ultralytics + PyTorch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&amp; Our Goal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2120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554480"/>
            <a:ext cx="82296" cy="2743200"/>
          </a:xfrm>
          <a:prstGeom prst="rect">
            <a:avLst/>
          </a:prstGeom>
          <a:solidFill>
            <a:srgbClr val="13A89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8288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inspection fails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68680" y="2560320"/>
            <a:ext cx="45720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— humans cannot keep up with production-line speed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— fatigue and subjectivity cause missed defects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— high labor intensity, low throughput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0" y="1554480"/>
            <a:ext cx="52120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0" y="1554480"/>
            <a:ext cx="82296" cy="2743200"/>
          </a:xfrm>
          <a:prstGeom prst="rect">
            <a:avLst/>
          </a:prstGeom>
          <a:solidFill>
            <a:srgbClr val="13A89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2880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8288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automated solution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720840" y="2560320"/>
            <a:ext cx="45720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localize 6 defect types with bounding boxes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 suitable for the production line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objective, repeatable quality control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0F2A43"/>
          </a:solidFill>
          <a:ln/>
        </p:spPr>
      </p:sp>
      <p:sp>
        <p:nvSpPr>
          <p:cNvPr id="14" name="Text 10"/>
          <p:cNvSpPr/>
          <p:nvPr/>
        </p:nvSpPr>
        <p:spPr>
          <a:xfrm>
            <a:off x="914400" y="4846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A8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Goal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914400" y="52120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YOLOv8 detector that automatically finds and classifies surface defects on hot-rolled steel strips — turning slow manual inspection into fast, reliable, automated quality control.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Surface Defect Detection  •  NEU-DET + YOLOv8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 — NEU-DET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defects on hot-rolled steel strips, collected at Northeastern University (NEU). The standard public benchmark for steel defect detection.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2606040" cy="1554480"/>
          </a:xfrm>
          <a:prstGeom prst="rect">
            <a:avLst/>
          </a:prstGeom>
          <a:solidFill>
            <a:srgbClr val="F4F8FB"/>
          </a:solidFill>
          <a:ln w="12700">
            <a:solidFill>
              <a:srgbClr val="CFE3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22402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1,800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3154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10128" y="2103120"/>
            <a:ext cx="2606040" cy="1554480"/>
          </a:xfrm>
          <a:prstGeom prst="rect">
            <a:avLst/>
          </a:prstGeom>
          <a:solidFill>
            <a:srgbClr val="F4F8FB"/>
          </a:solidFill>
          <a:ln w="12700">
            <a:solidFill>
              <a:srgbClr val="CFE3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10128" y="22402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3310128" y="3154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classes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71616" y="2103120"/>
            <a:ext cx="2606040" cy="1554480"/>
          </a:xfrm>
          <a:prstGeom prst="rect">
            <a:avLst/>
          </a:prstGeom>
          <a:solidFill>
            <a:srgbClr val="F4F8FB"/>
          </a:solidFill>
          <a:ln w="12700">
            <a:solidFill>
              <a:srgbClr val="CFE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71616" y="22402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6071616" y="3154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per class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833104" y="2103120"/>
            <a:ext cx="2606040" cy="1554480"/>
          </a:xfrm>
          <a:prstGeom prst="rect">
            <a:avLst/>
          </a:prstGeom>
          <a:solidFill>
            <a:srgbClr val="F4F8FB"/>
          </a:solidFill>
          <a:ln w="12700">
            <a:solidFill>
              <a:srgbClr val="CFE3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33104" y="22402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200×200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8833104" y="3154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(grayscale)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3977640"/>
            <a:ext cx="82296" cy="210312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4023360"/>
            <a:ext cx="10607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Annotations: 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 in Pascal VOC XML — converted to YOLO format in Notebook 01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(1,440) / 20% validation (360), fixed seed for reproducibility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— predict class + location of each defect, not just yes/no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(kaustubhdikshit/neu-surface-defect-database) — auto-downloaded via kagglehub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Surface Defect Detection  •  NEU-DET + YOLOv8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6 Defect Classes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has exactly 300 images — a perfectly balanced dataset (no class imbalance to correct for).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4832"/>
            <a:ext cx="548640" cy="54864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920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Crazing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08760" y="235915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of fine surface cracks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83480" y="19202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A8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084832"/>
            <a:ext cx="548640" cy="54864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223760" y="1920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Inclusion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223760" y="235915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material embedded in surface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698480" y="19202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A8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502152"/>
            <a:ext cx="548640" cy="54864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08760" y="3337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Patches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508760" y="37764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irregular surface patches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83480" y="3337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A8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6263640" y="315468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92240" y="3502152"/>
            <a:ext cx="548640" cy="54864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23760" y="3337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Pitted surface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223760" y="37764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pits / cavities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698480" y="3337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A8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548640" y="457200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" y="4919472"/>
            <a:ext cx="548640" cy="54864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919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508760" y="4754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Rolled-in scale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1508760" y="51937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Oxide scale pressed in during rolling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983480" y="4754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A8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6263640" y="457200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92240" y="4919472"/>
            <a:ext cx="548640" cy="54864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4919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223760" y="4754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Scratches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7223760" y="51937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mechanical scratches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698480" y="4754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A8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Surface Defect Detection  •  NEU-DET + YOLOv8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Reference Paper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5" name="Text 2"/>
          <p:cNvSpPr/>
          <p:nvPr/>
        </p:nvSpPr>
        <p:spPr>
          <a:xfrm>
            <a:off x="868680" y="150876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lightweight algorithm for steel surface defect detection using improved YOLOv8”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868680" y="224028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Reports (2025) — open access  •  Benchmark dataset: NEU-DET  •  Baseline model: YOLOv8n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paper establishes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3520440"/>
            <a:ext cx="10789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5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NEU-DET is the recognized benchmark for steel surface defect detection</a:t>
            </a:r>
            <a:endParaRPr lang="en-US" sz="15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5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is a strong, lightweight baseline — fast enough for real-time industrial use</a:t>
            </a:r>
            <a:endParaRPr lang="en-US" sz="15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5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YOLOv8n reaches roughly 76% mAP@0.5 on this dataset</a:t>
            </a:r>
            <a:endParaRPr lang="en-US" sz="15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5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(attention modules, better losses) add a few percent mAP — our optional next step</a:t>
            </a:r>
            <a:endParaRPr lang="en-US" sz="15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5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metrics: mAP@0.5, mAP@0.5:0.95, precision, recall, confusion matrix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Surface Defect Detection  •  NEU-DET + YOLOv8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YOLOv8 Works — Architecture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1234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= “You Only Look Once” — a single network sees the whole image once and predicts all defect boxes in one pass.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40080" y="228600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13A89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740" y="251460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31089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640080" y="34564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image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200×200 px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2587752" y="2834640"/>
            <a:ext cx="35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FE3EE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2926080" y="228600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40" y="2514600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926080" y="31089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Backbone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2926080" y="34564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CSPDarknet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features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4873752" y="2834640"/>
            <a:ext cx="35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FE3EE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0"/>
          <p:cNvSpPr/>
          <p:nvPr/>
        </p:nvSpPr>
        <p:spPr>
          <a:xfrm>
            <a:off x="5212080" y="228600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13A89E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740" y="251460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12080" y="31089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Neck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5212080" y="34564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PAN-FPN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scales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7159752" y="2834640"/>
            <a:ext cx="35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FE3EE"/>
                </a:solidFill>
              </a:rPr>
              <a:t>→</a:t>
            </a:r>
            <a:endParaRPr lang="en-US" sz="2400" dirty="0"/>
          </a:p>
        </p:txBody>
      </p:sp>
      <p:sp>
        <p:nvSpPr>
          <p:cNvPr id="20" name="Shape 14"/>
          <p:cNvSpPr/>
          <p:nvPr/>
        </p:nvSpPr>
        <p:spPr>
          <a:xfrm>
            <a:off x="7498080" y="228600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6740" y="251460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98080" y="31089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7498080" y="34564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boxes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classes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9445752" y="2834640"/>
            <a:ext cx="35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FE3EE"/>
                </a:solidFill>
              </a:rPr>
              <a:t>→</a:t>
            </a:r>
            <a:endParaRPr lang="en-US" sz="2400" dirty="0"/>
          </a:p>
        </p:txBody>
      </p:sp>
      <p:sp>
        <p:nvSpPr>
          <p:cNvPr id="25" name="Shape 18"/>
          <p:cNvSpPr/>
          <p:nvPr/>
        </p:nvSpPr>
        <p:spPr>
          <a:xfrm>
            <a:off x="9784080" y="228600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13A89E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2740" y="2514600"/>
            <a:ext cx="548640" cy="5486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784080" y="31089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700" dirty="0"/>
          </a:p>
        </p:txBody>
      </p:sp>
      <p:sp>
        <p:nvSpPr>
          <p:cNvPr id="28" name="Text 20"/>
          <p:cNvSpPr/>
          <p:nvPr/>
        </p:nvSpPr>
        <p:spPr>
          <a:xfrm>
            <a:off x="9784080" y="34564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defect types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640080" y="4434840"/>
            <a:ext cx="10927080" cy="1600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2"/>
          <p:cNvSpPr/>
          <p:nvPr/>
        </p:nvSpPr>
        <p:spPr>
          <a:xfrm>
            <a:off x="914400" y="457200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8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One-stage detector:  </a:t>
            </a:r>
            <a:pPr indent="0" marL="0">
              <a:lnSpc>
                <a:spcPct val="135000"/>
              </a:lnSpc>
              <a:buNone/>
            </a:pPr>
            <a:r>
              <a:rPr lang="en-US" sz="138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two-stage methods, YOLO does region proposal and classification together — that is why it is fast.</a:t>
            </a:r>
            <a:endParaRPr lang="en-US" sz="13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8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(“nano”):  </a:t>
            </a:r>
            <a:pPr indent="0" marL="0">
              <a:lnSpc>
                <a:spcPct val="135000"/>
              </a:lnSpc>
              <a:buNone/>
            </a:pPr>
            <a:r>
              <a:rPr lang="en-US" sz="138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variant (~3M parameters) — ideal for a graduation project and edge / real-time deployment.</a:t>
            </a:r>
            <a:endParaRPr lang="en-US" sz="13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8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learning:  </a:t>
            </a:r>
            <a:pPr indent="0" marL="0">
              <a:lnSpc>
                <a:spcPct val="135000"/>
              </a:lnSpc>
              <a:buNone/>
            </a:pPr>
            <a:r>
              <a:rPr lang="en-US" sz="138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 from COCO-pretrained weights, then fine-tune on NEU-DET — far better than training from scratch on 1,800 images.</a:t>
            </a:r>
            <a:endParaRPr lang="en-US" sz="1380" dirty="0"/>
          </a:p>
        </p:txBody>
      </p:sp>
      <p:sp>
        <p:nvSpPr>
          <p:cNvPr id="31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Surface Defect Detection  •  NEU-DET + YOLOv8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 of the Project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rgbClr val="CFE3E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048256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00200" y="17190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Automatic data pipeline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600200" y="21214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notebook downloads NEU-DET, converts VOC→YOLO, and builds the train/val split.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263640" y="155448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537960" y="1920240"/>
            <a:ext cx="566928" cy="566928"/>
          </a:xfrm>
          <a:prstGeom prst="ellipse">
            <a:avLst/>
          </a:prstGeom>
          <a:solidFill>
            <a:srgbClr val="CFE3E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2048256"/>
            <a:ext cx="310896" cy="310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15200" y="17190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EDA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7315200" y="21214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balance, sample images with boxes, and bounding-box size statistics.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301752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22960" y="3383280"/>
            <a:ext cx="566928" cy="566928"/>
          </a:xfrm>
          <a:prstGeom prst="ellipse">
            <a:avLst/>
          </a:prstGeom>
          <a:solidFill>
            <a:srgbClr val="CFE3EE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51129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31821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Transfer-learning training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1600200" y="35844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Fine-tunes COCO-pretrained YOLOv8n; GPU-aware with early stopping.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263640" y="301752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537960" y="3383280"/>
            <a:ext cx="566928" cy="566928"/>
          </a:xfrm>
          <a:prstGeom prst="ellipse">
            <a:avLst/>
          </a:prstGeom>
          <a:solidFill>
            <a:srgbClr val="CFE3EE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976" y="3511296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315200" y="31821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Rigorous evaluation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7315200" y="35844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mAP@0.5, mAP@0.5:0.95, per-class table, confusion matrix, PR curves.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548640" y="448056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22960" y="4846320"/>
            <a:ext cx="566928" cy="566928"/>
          </a:xfrm>
          <a:prstGeom prst="ellipse">
            <a:avLst/>
          </a:prstGeom>
          <a:solidFill>
            <a:srgbClr val="CFE3EE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4974336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600200" y="46451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</a:t>
            </a:r>
            <a:endParaRPr lang="en-US" sz="1650" dirty="0"/>
          </a:p>
        </p:txBody>
      </p:sp>
      <p:sp>
        <p:nvSpPr>
          <p:cNvPr id="28" name="Text 20"/>
          <p:cNvSpPr/>
          <p:nvPr/>
        </p:nvSpPr>
        <p:spPr>
          <a:xfrm>
            <a:off x="1600200" y="50474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app: upload a steel image, see detected defects live.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6263640" y="448056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537960" y="4846320"/>
            <a:ext cx="566928" cy="566928"/>
          </a:xfrm>
          <a:prstGeom prst="ellipse">
            <a:avLst/>
          </a:prstGeom>
          <a:solidFill>
            <a:srgbClr val="CFE3EE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5976" y="4974336"/>
            <a:ext cx="310896" cy="31089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315200" y="46451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Report-ready outputs</a:t>
            </a:r>
            <a:endParaRPr lang="en-US" sz="1650" dirty="0"/>
          </a:p>
        </p:txBody>
      </p:sp>
      <p:sp>
        <p:nvSpPr>
          <p:cNvPr id="33" name="Text 24"/>
          <p:cNvSpPr/>
          <p:nvPr/>
        </p:nvSpPr>
        <p:spPr>
          <a:xfrm>
            <a:off x="7315200" y="50474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plots + metrics summary go straight into the IEEE thesis.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Surface Defect Detection  •  NEU-DET + YOLOv8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Workflow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notebooks, run top to bottom — each produces inputs for the next.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85800" y="1947672"/>
            <a:ext cx="502920" cy="502920"/>
          </a:xfrm>
          <a:prstGeom prst="ellipse">
            <a:avLst/>
          </a:prstGeom>
          <a:solidFill>
            <a:srgbClr val="13A89E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463040" y="1783080"/>
            <a:ext cx="10149840" cy="868680"/>
          </a:xfrm>
          <a:prstGeom prst="rect">
            <a:avLst/>
          </a:prstGeom>
          <a:solidFill>
            <a:srgbClr val="F4F8FB"/>
          </a:solidFill>
          <a:ln w="12700">
            <a:solidFill>
              <a:srgbClr val="CFE3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63040" y="1783080"/>
            <a:ext cx="73152" cy="86868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9" name="Text 6"/>
          <p:cNvSpPr/>
          <p:nvPr/>
        </p:nvSpPr>
        <p:spPr>
          <a:xfrm>
            <a:off x="1737360" y="18928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Preparation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394960" y="18928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NEU-DET • convert VOC→YOLO • build train/val • write data.yaml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41248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A89E"/>
                </a:solidFill>
              </a:rPr>
              <a:t>↓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85800" y="3026664"/>
            <a:ext cx="502920" cy="502920"/>
          </a:xfrm>
          <a:prstGeom prst="ellipse">
            <a:avLst/>
          </a:prstGeom>
          <a:solidFill>
            <a:srgbClr val="13A89E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3026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1463040" y="2862072"/>
            <a:ext cx="10149840" cy="868680"/>
          </a:xfrm>
          <a:prstGeom prst="rect">
            <a:avLst/>
          </a:prstGeom>
          <a:solidFill>
            <a:srgbClr val="F4F8FB"/>
          </a:solidFill>
          <a:ln w="12700">
            <a:solidFill>
              <a:srgbClr val="CFE3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63040" y="2862072"/>
            <a:ext cx="73152" cy="86868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16" name="Text 13"/>
          <p:cNvSpPr/>
          <p:nvPr/>
        </p:nvSpPr>
        <p:spPr>
          <a:xfrm>
            <a:off x="1737360" y="2971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Analysis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94960" y="29718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• sample images with boxes • box-size stats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4124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A89E"/>
                </a:solidFill>
              </a:rPr>
              <a:t>↓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85800" y="4105656"/>
            <a:ext cx="502920" cy="502920"/>
          </a:xfrm>
          <a:prstGeom prst="ellipse">
            <a:avLst/>
          </a:prstGeom>
          <a:solidFill>
            <a:srgbClr val="13A89E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" y="4105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1463040" y="3941064"/>
            <a:ext cx="10149840" cy="868680"/>
          </a:xfrm>
          <a:prstGeom prst="rect">
            <a:avLst/>
          </a:prstGeom>
          <a:solidFill>
            <a:srgbClr val="F4F8FB"/>
          </a:solidFill>
          <a:ln w="12700">
            <a:solidFill>
              <a:srgbClr val="CFE3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463040" y="3941064"/>
            <a:ext cx="73152" cy="86868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23" name="Text 20"/>
          <p:cNvSpPr/>
          <p:nvPr/>
        </p:nvSpPr>
        <p:spPr>
          <a:xfrm>
            <a:off x="1737360" y="405079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Baseline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394960" y="405079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YOLOv8n • 100 epochs • save best.pt • validation summary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41248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A89E"/>
                </a:solidFill>
              </a:rPr>
              <a:t>↓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685800" y="5184648"/>
            <a:ext cx="502920" cy="502920"/>
          </a:xfrm>
          <a:prstGeom prst="ellipse">
            <a:avLst/>
          </a:prstGeom>
          <a:solidFill>
            <a:srgbClr val="13A89E"/>
          </a:solidFill>
          <a:ln/>
        </p:spPr>
      </p:sp>
      <p:sp>
        <p:nvSpPr>
          <p:cNvPr id="27" name="Text 24"/>
          <p:cNvSpPr/>
          <p:nvPr/>
        </p:nvSpPr>
        <p:spPr>
          <a:xfrm>
            <a:off x="685800" y="5184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1463040" y="5020056"/>
            <a:ext cx="10149840" cy="868680"/>
          </a:xfrm>
          <a:prstGeom prst="rect">
            <a:avLst/>
          </a:prstGeom>
          <a:solidFill>
            <a:srgbClr val="F4F8FB"/>
          </a:solidFill>
          <a:ln w="12700">
            <a:solidFill>
              <a:srgbClr val="CFE3E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463040" y="5020056"/>
            <a:ext cx="73152" cy="86868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30" name="Text 27"/>
          <p:cNvSpPr/>
          <p:nvPr/>
        </p:nvSpPr>
        <p:spPr>
          <a:xfrm>
            <a:off x="1737360" y="512978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5394960" y="5129784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&amp; per-class table • confusion matrix • sample predictions • report file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Surface Defect Detection  •  NEU-DET + YOLOv8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Results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per-class mAP@0.5 (illustrative — your numbers will vary)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7589520" y="1691640"/>
            <a:ext cx="4023360" cy="420624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7" name="Text 3"/>
          <p:cNvSpPr/>
          <p:nvPr/>
        </p:nvSpPr>
        <p:spPr>
          <a:xfrm>
            <a:off x="7863840" y="18745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A8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expect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7863840" y="2331720"/>
            <a:ext cx="3566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≈ 76% mAP@0.5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YOLOv8n baseline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 classes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patches, scratches — high contrast, clear shapes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classes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crazing, rolled-in scale — faint, low-contrast textures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Surface Defect Detection  •  NEU-DET + YOLOv8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778240" y="-914400"/>
            <a:ext cx="256032" cy="9144000"/>
          </a:xfrm>
          <a:prstGeom prst="rect">
            <a:avLst/>
          </a:prstGeom>
          <a:solidFill>
            <a:srgbClr val="1C7293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9345168" y="-914400"/>
            <a:ext cx="256032" cy="9144000"/>
          </a:xfrm>
          <a:prstGeom prst="rect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9912096" y="-914400"/>
            <a:ext cx="256032" cy="9144000"/>
          </a:xfrm>
          <a:prstGeom prst="rect">
            <a:avLst/>
          </a:prstGeom>
          <a:solidFill>
            <a:srgbClr val="1C7293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1080000">
            <a:off x="10479024" y="-914400"/>
            <a:ext cx="256032" cy="9144000"/>
          </a:xfrm>
          <a:prstGeom prst="rect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1080000">
            <a:off x="11045952" y="-914400"/>
            <a:ext cx="256032" cy="9144000"/>
          </a:xfrm>
          <a:prstGeom prst="rect">
            <a:avLst/>
          </a:prstGeom>
          <a:solidFill>
            <a:srgbClr val="1C7293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080000">
            <a:off x="11612880" y="-914400"/>
            <a:ext cx="256032" cy="9144000"/>
          </a:xfrm>
          <a:prstGeom prst="rect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822960" y="1691640"/>
            <a:ext cx="2743200" cy="0"/>
          </a:xfrm>
          <a:prstGeom prst="line">
            <a:avLst/>
          </a:prstGeom>
          <a:noFill/>
          <a:ln w="31750">
            <a:solidFill>
              <a:srgbClr val="13A89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4884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21031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industrial problem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463040" y="25146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slow, error-prone manual steel inspection.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089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3063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solid public dataset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1463040" y="34747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NEU-DET: 1,800 images, 6 balanced defect classes, 300 each.</a:t>
            </a:r>
            <a:endParaRPr lang="en-US" sz="1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690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0233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proven, paper-backed method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1463040" y="44348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YOLOv8n, the standard benchmark baseline (~76% mAP@0.5).</a:t>
            </a:r>
            <a:endParaRPr lang="en-US" sz="14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02920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63040" y="4983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complete, runnable pipeline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1463040" y="53949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notebooks: data → EDA → train → evaluate, plus a demo app.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optional step: add an attention module (e.g. CBAM) to beat the baseline.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Steel Surface Defect Detection with YOLOv8</dc:title>
  <dc:subject>PptxGenJS Presentation</dc:subject>
  <dc:creator>DEPI AI Track</dc:creator>
  <cp:lastModifiedBy>DEPI AI Track</cp:lastModifiedBy>
  <cp:revision>1</cp:revision>
  <dcterms:created xsi:type="dcterms:W3CDTF">2026-06-02T07:32:33Z</dcterms:created>
  <dcterms:modified xsi:type="dcterms:W3CDTF">2026-06-02T07:32:33Z</dcterms:modified>
</cp:coreProperties>
</file>